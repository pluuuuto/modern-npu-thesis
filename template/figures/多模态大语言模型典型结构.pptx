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439989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1" userDrawn="1">
          <p15:clr>
            <a:srgbClr val="A4A3A4"/>
          </p15:clr>
        </p15:guide>
        <p15:guide id="2" pos="45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B8BD"/>
    <a:srgbClr val="8A6CBB"/>
    <a:srgbClr val="D2C1F0"/>
    <a:srgbClr val="D3C3EF"/>
    <a:srgbClr val="9D84C3"/>
    <a:srgbClr val="D2C0EF"/>
    <a:srgbClr val="FFFFFF"/>
    <a:srgbClr val="F8F3FD"/>
    <a:srgbClr val="A68CCA"/>
    <a:srgbClr val="866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81"/>
        <p:guide pos="456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00247" y="1122363"/>
            <a:ext cx="1080148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00247" y="3602038"/>
            <a:ext cx="1080148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2635" y="1709738"/>
            <a:ext cx="1242170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82635" y="4589463"/>
            <a:ext cx="1242170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90136" y="1825625"/>
            <a:ext cx="612084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291001" y="1825625"/>
            <a:ext cx="612084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2012" y="365125"/>
            <a:ext cx="12421705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92012" y="1681163"/>
            <a:ext cx="609271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92012" y="2505075"/>
            <a:ext cx="609271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291001" y="1681163"/>
            <a:ext cx="61227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291001" y="2505075"/>
            <a:ext cx="6122716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2012" y="457200"/>
            <a:ext cx="464501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22716" y="987425"/>
            <a:ext cx="72910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92012" y="2057400"/>
            <a:ext cx="464501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2012" y="457200"/>
            <a:ext cx="464501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122716" y="987425"/>
            <a:ext cx="72910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92012" y="2057400"/>
            <a:ext cx="464501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306415" y="365125"/>
            <a:ext cx="3105426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90136" y="365125"/>
            <a:ext cx="9136254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990136" y="365125"/>
            <a:ext cx="1242170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90136" y="1825625"/>
            <a:ext cx="124217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90136" y="6356350"/>
            <a:ext cx="32404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770655" y="6356350"/>
            <a:ext cx="4860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171396" y="6356350"/>
            <a:ext cx="32404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.xml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9" y="1315455"/>
            <a:ext cx="1544516" cy="178648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8083" y="1098255"/>
            <a:ext cx="148100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华文中宋" panose="02010600040101010101" charset="-122"/>
                <a:ea typeface="华文中宋" panose="02010600040101010101" charset="-122"/>
              </a:rPr>
              <a:t>图像输入</a:t>
            </a:r>
            <a:endParaRPr lang="zh-CN" altLang="en-US" b="1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463926" y="985847"/>
            <a:ext cx="2797530" cy="4548447"/>
          </a:xfrm>
          <a:prstGeom prst="roundRect">
            <a:avLst/>
          </a:prstGeom>
          <a:solidFill>
            <a:srgbClr val="EFF5FD"/>
          </a:solidFill>
          <a:ln>
            <a:solidFill>
              <a:srgbClr val="7D9EC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952430" y="1006802"/>
            <a:ext cx="2587953" cy="4548447"/>
          </a:xfrm>
          <a:prstGeom prst="roundRect">
            <a:avLst/>
          </a:prstGeom>
          <a:solidFill>
            <a:srgbClr val="F1F9F1"/>
          </a:solidFill>
          <a:ln>
            <a:solidFill>
              <a:srgbClr val="82AE7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8990669" y="1011248"/>
            <a:ext cx="4037207" cy="4548447"/>
          </a:xfrm>
          <a:prstGeom prst="roundRect">
            <a:avLst/>
          </a:prstGeom>
          <a:solidFill>
            <a:srgbClr val="F5F1FC"/>
          </a:solidFill>
          <a:ln>
            <a:solidFill>
              <a:srgbClr val="A48CC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流程图: 数据 15"/>
          <p:cNvSpPr/>
          <p:nvPr/>
        </p:nvSpPr>
        <p:spPr>
          <a:xfrm>
            <a:off x="2697013" y="3664613"/>
            <a:ext cx="2145937" cy="692238"/>
          </a:xfrm>
          <a:prstGeom prst="flowChartInputOutput">
            <a:avLst/>
          </a:prstGeom>
          <a:solidFill>
            <a:srgbClr val="C6DCFB"/>
          </a:solidFill>
          <a:ln>
            <a:solidFill>
              <a:srgbClr val="5277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600" b="1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视觉编码器</a:t>
            </a:r>
            <a:br>
              <a:rPr lang="zh-CN" altLang="en-US" sz="1600" b="1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</a:br>
            <a:r>
              <a:rPr lang="zh-CN" altLang="en-US" sz="1200" b="1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（Tranformer）</a:t>
            </a:r>
            <a:endParaRPr lang="zh-CN" altLang="en-US" sz="1200" b="1">
              <a:solidFill>
                <a:srgbClr val="293D75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2033905" y="1615440"/>
            <a:ext cx="344170" cy="381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313940" y="1101090"/>
            <a:ext cx="3094355" cy="404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视觉编码器</a:t>
            </a:r>
            <a:endParaRPr lang="zh-CN" altLang="en-US" b="1">
              <a:solidFill>
                <a:srgbClr val="293D75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（如</a:t>
            </a:r>
            <a:r>
              <a:rPr lang="en-US" altLang="zh-CN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ViT</a:t>
            </a:r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，</a:t>
            </a:r>
            <a:r>
              <a:rPr lang="en-US" altLang="zh-CN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Swin</a:t>
            </a:r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，</a:t>
            </a:r>
            <a:r>
              <a:rPr lang="en-US" altLang="zh-CN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EVA</a:t>
            </a:r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，</a:t>
            </a:r>
            <a:r>
              <a:rPr lang="en-US" altLang="zh-CN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CLIP </a:t>
            </a:r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等）</a:t>
            </a:r>
            <a:endParaRPr lang="zh-CN" altLang="en-US" sz="1405" b="1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 flipH="1">
            <a:off x="3862070" y="3356610"/>
            <a:ext cx="1270" cy="24955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4" name="图片 33" descr="cat_grid_patch_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270" y="2928620"/>
            <a:ext cx="299085" cy="3479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图片 34" descr="cat_grid_patch_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235" y="1778635"/>
            <a:ext cx="298450" cy="345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图片 35" descr="cat_grid_patch_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675" y="1778635"/>
            <a:ext cx="298450" cy="345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7" name="图片 36" descr="cat_grid_patch_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3195" y="1778635"/>
            <a:ext cx="298450" cy="345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8" name="图片 37" descr="cat_grid_patch_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9270" y="1778635"/>
            <a:ext cx="298450" cy="345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9" name="图片 38" descr="cat_grid_patch_0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3235" y="2162175"/>
            <a:ext cx="298450" cy="345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" name="图片 39" descr="cat_grid_patch_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8675" y="2162175"/>
            <a:ext cx="298450" cy="345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1" name="图片 40" descr="cat_grid_patch_0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3195" y="2162175"/>
            <a:ext cx="298450" cy="345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2" name="图片 41" descr="cat_grid_patch_0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9270" y="2162175"/>
            <a:ext cx="298450" cy="345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3" name="图片 42" descr="cat_grid_patch_0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3235" y="2545715"/>
            <a:ext cx="298450" cy="345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4" name="图片 43" descr="cat_grid_patch_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8675" y="2545715"/>
            <a:ext cx="298450" cy="345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5" name="图片 44" descr="cat_grid_patch_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73195" y="2545715"/>
            <a:ext cx="298450" cy="345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6" name="图片 45" descr="cat_grid_patch_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19270" y="2545715"/>
            <a:ext cx="298450" cy="3454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7" name="图片 46" descr="cat_grid_patch_1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23235" y="2928620"/>
            <a:ext cx="299085" cy="3479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8" name="图片 47" descr="cat_grid_patch_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68675" y="2928620"/>
            <a:ext cx="299085" cy="3479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9" name="图片 48" descr="cat_grid_patch_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73195" y="2928620"/>
            <a:ext cx="299085" cy="3479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1" name="文本框 50"/>
          <p:cNvSpPr txBox="1"/>
          <p:nvPr/>
        </p:nvSpPr>
        <p:spPr>
          <a:xfrm>
            <a:off x="3620770" y="1715135"/>
            <a:ext cx="40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3620770" y="2083435"/>
            <a:ext cx="40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53" name="文本框 52"/>
          <p:cNvSpPr txBox="1"/>
          <p:nvPr/>
        </p:nvSpPr>
        <p:spPr>
          <a:xfrm>
            <a:off x="3620770" y="2451735"/>
            <a:ext cx="40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54" name="文本框 53"/>
          <p:cNvSpPr txBox="1"/>
          <p:nvPr/>
        </p:nvSpPr>
        <p:spPr>
          <a:xfrm>
            <a:off x="3620770" y="2854960"/>
            <a:ext cx="403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cxnSp>
        <p:nvCxnSpPr>
          <p:cNvPr id="55" name="直接箭头连接符 54"/>
          <p:cNvCxnSpPr/>
          <p:nvPr/>
        </p:nvCxnSpPr>
        <p:spPr>
          <a:xfrm flipH="1">
            <a:off x="3861096" y="4420996"/>
            <a:ext cx="1270" cy="24958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圆角矩形 57"/>
          <p:cNvSpPr/>
          <p:nvPr/>
        </p:nvSpPr>
        <p:spPr>
          <a:xfrm>
            <a:off x="2697001" y="4759493"/>
            <a:ext cx="213387" cy="213387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圆角矩形 58"/>
          <p:cNvSpPr/>
          <p:nvPr/>
        </p:nvSpPr>
        <p:spPr>
          <a:xfrm>
            <a:off x="2970721" y="4759493"/>
            <a:ext cx="213387" cy="213387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圆角矩形 59"/>
          <p:cNvSpPr/>
          <p:nvPr/>
        </p:nvSpPr>
        <p:spPr>
          <a:xfrm>
            <a:off x="4706846" y="4753778"/>
            <a:ext cx="213387" cy="213387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圆角矩形 60"/>
          <p:cNvSpPr/>
          <p:nvPr/>
        </p:nvSpPr>
        <p:spPr>
          <a:xfrm>
            <a:off x="3531497" y="4759493"/>
            <a:ext cx="213387" cy="213387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圆角矩形 61"/>
          <p:cNvSpPr/>
          <p:nvPr/>
        </p:nvSpPr>
        <p:spPr>
          <a:xfrm>
            <a:off x="3802677" y="4759493"/>
            <a:ext cx="213387" cy="213387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4081477" y="4759493"/>
            <a:ext cx="213387" cy="213387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4303320" y="4619776"/>
            <a:ext cx="4032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65" name="圆角矩形 64"/>
          <p:cNvSpPr/>
          <p:nvPr/>
        </p:nvSpPr>
        <p:spPr>
          <a:xfrm>
            <a:off x="3250969" y="4759493"/>
            <a:ext cx="213387" cy="213387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670918" y="5101167"/>
            <a:ext cx="4319183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5" b="1">
                <a:solidFill>
                  <a:srgbClr val="293D75"/>
                </a:solidFill>
                <a:latin typeface="华文中宋" panose="02010600040101010101" charset="-122"/>
                <a:ea typeface="华文中宋" panose="02010600040101010101" charset="-122"/>
              </a:rPr>
              <a:t>视觉特征序列</a:t>
            </a:r>
            <a:r>
              <a:rPr lang="en-US" altLang="zh-CN" sz="1405" b="1">
                <a:solidFill>
                  <a:srgbClr val="293D75"/>
                </a:solidFill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en-US" altLang="zh-CN" sz="1405" b="1" i="1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V=</a:t>
            </a:r>
            <a:r>
              <a:rPr lang="zh-CN" altLang="en-US" sz="1405" b="1" i="1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（</a:t>
            </a:r>
            <a:r>
              <a:rPr lang="en-US" altLang="zh-CN" sz="1405" b="1" i="1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v</a:t>
            </a:r>
            <a:r>
              <a:rPr lang="en-US" altLang="zh-CN" sz="1405" b="1" i="1" baseline="-25000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1</a:t>
            </a:r>
            <a:r>
              <a:rPr lang="en-US" altLang="zh-CN" sz="1405" b="1" i="1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, v</a:t>
            </a:r>
            <a:r>
              <a:rPr lang="en-US" altLang="zh-CN" sz="1405" b="1" i="1" baseline="-25000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2</a:t>
            </a:r>
            <a:r>
              <a:rPr lang="en-US" altLang="zh-CN" sz="1405" b="1" i="1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, ..., v</a:t>
            </a:r>
            <a:r>
              <a:rPr lang="en-US" altLang="zh-CN" sz="1405" b="1" i="1" baseline="-25000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n</a:t>
            </a:r>
            <a:r>
              <a:rPr lang="en-US" altLang="zh-CN" sz="1405" b="1" i="1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)</a:t>
            </a:r>
            <a:endParaRPr lang="en-US" altLang="zh-CN" sz="1405" b="1" i="1">
              <a:solidFill>
                <a:srgbClr val="293D75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700504" y="1106510"/>
            <a:ext cx="3094112" cy="801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1E612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模态连接器</a:t>
            </a:r>
            <a:endParaRPr lang="zh-CN" altLang="en-US" b="1">
              <a:solidFill>
                <a:srgbClr val="417043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（如</a:t>
            </a:r>
            <a:r>
              <a:rPr lang="en-US" altLang="zh-CN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Linear / MLP / Q-Former / Perceiver Resampler </a:t>
            </a:r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等）</a:t>
            </a:r>
            <a:endParaRPr lang="zh-CN" altLang="en-US" sz="1405" b="1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6194397" y="1899090"/>
            <a:ext cx="2103387" cy="672550"/>
          </a:xfrm>
          <a:prstGeom prst="roundRect">
            <a:avLst/>
          </a:prstGeom>
          <a:solidFill>
            <a:srgbClr val="F9FCF8"/>
          </a:solidFill>
          <a:ln>
            <a:solidFill>
              <a:srgbClr val="6A9D6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6299703" y="1834947"/>
            <a:ext cx="1895080" cy="741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线性投影（最简单）</a:t>
            </a:r>
            <a:endParaRPr lang="zh-CN" altLang="en-US" sz="1405" b="1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indent="0" algn="ctr" fontAlgn="auto">
              <a:lnSpc>
                <a:spcPct val="150000"/>
              </a:lnSpc>
            </a:pPr>
            <a:r>
              <a:rPr lang="en-US" altLang="zh-CN" sz="1405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z</a:t>
            </a:r>
            <a:r>
              <a:rPr lang="en-US" altLang="zh-CN" sz="1405" b="1" i="1" baseline="-250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i</a:t>
            </a:r>
            <a:r>
              <a:rPr lang="en-US" altLang="zh-CN" sz="1405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= W</a:t>
            </a:r>
            <a:r>
              <a:rPr lang="en-US" altLang="zh-CN" sz="1405" b="1" i="1" baseline="-250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c</a:t>
            </a:r>
            <a:r>
              <a:rPr lang="en-US" altLang="zh-CN" sz="1405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v</a:t>
            </a:r>
            <a:r>
              <a:rPr lang="en-US" altLang="zh-CN" sz="1405" b="1" i="1" baseline="-250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i</a:t>
            </a:r>
            <a:r>
              <a:rPr lang="en-US" altLang="zh-CN" sz="1405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+b</a:t>
            </a:r>
            <a:r>
              <a:rPr lang="en-US" altLang="zh-CN" sz="1405" b="1" i="1" baseline="-250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c</a:t>
            </a:r>
            <a:endParaRPr lang="en-US" altLang="zh-CN" sz="1405" b="1" i="1" baseline="-25000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6194397" y="2918388"/>
            <a:ext cx="2103387" cy="2544768"/>
          </a:xfrm>
          <a:prstGeom prst="roundRect">
            <a:avLst/>
          </a:prstGeom>
          <a:solidFill>
            <a:srgbClr val="F9FCF8"/>
          </a:solidFill>
          <a:ln>
            <a:solidFill>
              <a:srgbClr val="6A9D6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6299703" y="2842820"/>
            <a:ext cx="1895080" cy="4159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Q-Former / </a:t>
            </a:r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跨注意力</a:t>
            </a:r>
            <a:endParaRPr lang="zh-CN" altLang="en-US" sz="1405" b="1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6417313" y="3258798"/>
            <a:ext cx="213387" cy="213387"/>
          </a:xfrm>
          <a:prstGeom prst="roundRect">
            <a:avLst/>
          </a:prstGeom>
          <a:solidFill>
            <a:srgbClr val="AFC897"/>
          </a:solidFill>
          <a:ln>
            <a:solidFill>
              <a:srgbClr val="6A9D6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6701194" y="3258798"/>
            <a:ext cx="213387" cy="213387"/>
          </a:xfrm>
          <a:prstGeom prst="roundRect">
            <a:avLst/>
          </a:prstGeom>
          <a:solidFill>
            <a:srgbClr val="A4BE85"/>
          </a:solidFill>
          <a:ln>
            <a:solidFill>
              <a:srgbClr val="6A9D6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圆角矩形 74"/>
          <p:cNvSpPr/>
          <p:nvPr/>
        </p:nvSpPr>
        <p:spPr>
          <a:xfrm>
            <a:off x="6972374" y="3258798"/>
            <a:ext cx="213387" cy="213387"/>
          </a:xfrm>
          <a:prstGeom prst="roundRect">
            <a:avLst/>
          </a:prstGeom>
          <a:solidFill>
            <a:srgbClr val="92AE65"/>
          </a:solidFill>
          <a:ln>
            <a:solidFill>
              <a:srgbClr val="6A9D6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圆角矩形 75"/>
          <p:cNvSpPr/>
          <p:nvPr/>
        </p:nvSpPr>
        <p:spPr>
          <a:xfrm>
            <a:off x="7251174" y="3258798"/>
            <a:ext cx="213387" cy="213387"/>
          </a:xfrm>
          <a:prstGeom prst="roundRect">
            <a:avLst/>
          </a:prstGeom>
          <a:solidFill>
            <a:srgbClr val="90AC65"/>
          </a:solidFill>
          <a:ln>
            <a:solidFill>
              <a:srgbClr val="6A9D6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圆角矩形 76"/>
          <p:cNvSpPr/>
          <p:nvPr/>
        </p:nvSpPr>
        <p:spPr>
          <a:xfrm>
            <a:off x="7820841" y="3256892"/>
            <a:ext cx="213387" cy="213387"/>
          </a:xfrm>
          <a:prstGeom prst="roundRect">
            <a:avLst/>
          </a:prstGeom>
          <a:solidFill>
            <a:srgbClr val="93AE67"/>
          </a:solidFill>
          <a:ln>
            <a:solidFill>
              <a:srgbClr val="6D934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6299703" y="3394705"/>
            <a:ext cx="1895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200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可学习查询向量</a:t>
            </a:r>
            <a:r>
              <a:rPr lang="en-US" altLang="zh-CN" sz="1200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</a:t>
            </a:r>
            <a:r>
              <a:rPr lang="en-US" altLang="zh-CN" sz="1200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Q</a:t>
            </a:r>
            <a:r>
              <a:rPr lang="en-US" altLang="zh-CN" sz="1200" b="1" i="1" baseline="-250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m</a:t>
            </a:r>
            <a:endParaRPr lang="en-US" altLang="zh-CN" sz="1200" b="1" i="1" baseline="-25000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6373489" y="4027878"/>
            <a:ext cx="1735675" cy="544899"/>
          </a:xfrm>
          <a:prstGeom prst="roundRect">
            <a:avLst/>
          </a:prstGeom>
          <a:solidFill>
            <a:srgbClr val="E6F2D9"/>
          </a:solidFill>
          <a:ln>
            <a:solidFill>
              <a:srgbClr val="6A9D6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5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Cross-Attention</a:t>
            </a:r>
            <a:endParaRPr lang="en-US" altLang="zh-CN" sz="1405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zh-CN" altLang="en-US" sz="1405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（</a:t>
            </a:r>
            <a:r>
              <a:rPr lang="en-US" altLang="zh-CN" sz="1405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Q</a:t>
            </a:r>
            <a:r>
              <a:rPr lang="en-US" altLang="zh-CN" sz="1405" b="1" i="1" baseline="-25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</a:t>
            </a:r>
            <a:r>
              <a:rPr lang="en-US" altLang="zh-CN" sz="1405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, K = V, V = V</a:t>
            </a:r>
            <a:r>
              <a:rPr lang="zh-CN" altLang="en-US" sz="1405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 sz="1405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>
            <a:off x="5398635" y="4864281"/>
            <a:ext cx="454718" cy="444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圆角矩形 82"/>
          <p:cNvSpPr/>
          <p:nvPr/>
        </p:nvSpPr>
        <p:spPr>
          <a:xfrm>
            <a:off x="6487798" y="4825541"/>
            <a:ext cx="213387" cy="213387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圆角矩形 83"/>
          <p:cNvSpPr/>
          <p:nvPr/>
        </p:nvSpPr>
        <p:spPr>
          <a:xfrm>
            <a:off x="6771679" y="4825541"/>
            <a:ext cx="213387" cy="213387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圆角矩形 84"/>
          <p:cNvSpPr/>
          <p:nvPr/>
        </p:nvSpPr>
        <p:spPr>
          <a:xfrm>
            <a:off x="7042859" y="4825541"/>
            <a:ext cx="213387" cy="213387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圆角矩形 85"/>
          <p:cNvSpPr/>
          <p:nvPr/>
        </p:nvSpPr>
        <p:spPr>
          <a:xfrm>
            <a:off x="7321659" y="4825541"/>
            <a:ext cx="213387" cy="213387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文本框 86"/>
          <p:cNvSpPr txBox="1"/>
          <p:nvPr/>
        </p:nvSpPr>
        <p:spPr>
          <a:xfrm>
            <a:off x="7506672" y="4683919"/>
            <a:ext cx="4032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88" name="圆角矩形 87"/>
          <p:cNvSpPr/>
          <p:nvPr/>
        </p:nvSpPr>
        <p:spPr>
          <a:xfrm>
            <a:off x="7891326" y="4825541"/>
            <a:ext cx="213387" cy="213387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文本框 88"/>
          <p:cNvSpPr txBox="1"/>
          <p:nvPr/>
        </p:nvSpPr>
        <p:spPr>
          <a:xfrm>
            <a:off x="5765283" y="5091640"/>
            <a:ext cx="2963286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5" b="1">
                <a:solidFill>
                  <a:srgbClr val="293D75"/>
                </a:solidFill>
                <a:latin typeface="华文中宋" panose="02010600040101010101" charset="-122"/>
                <a:ea typeface="华文中宋" panose="02010600040101010101" charset="-122"/>
              </a:rPr>
              <a:t>视觉特征序列</a:t>
            </a:r>
            <a:r>
              <a:rPr lang="en-US" altLang="zh-CN" sz="1405" b="1">
                <a:solidFill>
                  <a:srgbClr val="293D75"/>
                </a:solidFill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en-US" altLang="zh-CN" sz="1405" b="1" i="1">
                <a:solidFill>
                  <a:srgbClr val="293D75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V</a:t>
            </a:r>
            <a:endParaRPr lang="en-US" altLang="zh-CN" sz="1405" b="1" i="1">
              <a:solidFill>
                <a:srgbClr val="293D75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cxnSp>
        <p:nvCxnSpPr>
          <p:cNvPr id="90" name="直接箭头连接符 89"/>
          <p:cNvCxnSpPr/>
          <p:nvPr/>
        </p:nvCxnSpPr>
        <p:spPr>
          <a:xfrm flipH="1" flipV="1">
            <a:off x="7246725" y="4600086"/>
            <a:ext cx="1270" cy="20576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1" name="文本框 90"/>
          <p:cNvSpPr txBox="1"/>
          <p:nvPr/>
        </p:nvSpPr>
        <p:spPr>
          <a:xfrm>
            <a:off x="7434282" y="3114001"/>
            <a:ext cx="4032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cxnSp>
        <p:nvCxnSpPr>
          <p:cNvPr id="92" name="直接箭头连接符 91"/>
          <p:cNvCxnSpPr/>
          <p:nvPr/>
        </p:nvCxnSpPr>
        <p:spPr>
          <a:xfrm flipH="1">
            <a:off x="7240374" y="3714783"/>
            <a:ext cx="4446" cy="26609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6299703" y="2476378"/>
            <a:ext cx="1895080" cy="4159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或例如</a:t>
            </a:r>
            <a:endParaRPr lang="zh-CN" altLang="en-US" sz="1405" b="1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9419237" y="1098255"/>
            <a:ext cx="3094112" cy="584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5E3A9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语言模型核心</a:t>
            </a:r>
            <a:endParaRPr lang="zh-CN" altLang="en-US" b="1">
              <a:solidFill>
                <a:srgbClr val="5E3A9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（如</a:t>
            </a:r>
            <a:r>
              <a:rPr lang="en-US" altLang="zh-CN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LLaMA</a:t>
            </a:r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、</a:t>
            </a:r>
            <a:r>
              <a:rPr lang="en-US" altLang="zh-CN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Qwen</a:t>
            </a:r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、</a:t>
            </a:r>
            <a:r>
              <a:rPr lang="en-US" altLang="zh-CN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GPT </a:t>
            </a:r>
            <a:r>
              <a:rPr lang="zh-CN" altLang="en-US" sz="1405" b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等）</a:t>
            </a:r>
            <a:endParaRPr lang="zh-CN" altLang="en-US" sz="1405" b="1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95" name="圆角矩形 94"/>
          <p:cNvSpPr/>
          <p:nvPr/>
        </p:nvSpPr>
        <p:spPr>
          <a:xfrm>
            <a:off x="9358676" y="1770806"/>
            <a:ext cx="2469193" cy="2328840"/>
          </a:xfrm>
          <a:prstGeom prst="roundRect">
            <a:avLst/>
          </a:prstGeom>
          <a:solidFill>
            <a:srgbClr val="E8DCF9"/>
          </a:solidFill>
          <a:ln>
            <a:solidFill>
              <a:srgbClr val="8667B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9586353" y="1834944"/>
            <a:ext cx="2013840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Decoder-only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algn="ctr"/>
            <a:r>
              <a:rPr lang="en-US" b="1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Transformer</a:t>
            </a:r>
            <a:endParaRPr lang="en-US" b="1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（自回归生成）</a:t>
            </a:r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98" name="圆角矩形 97"/>
          <p:cNvSpPr/>
          <p:nvPr/>
        </p:nvSpPr>
        <p:spPr>
          <a:xfrm>
            <a:off x="9646050" y="2789474"/>
            <a:ext cx="1894445" cy="334052"/>
          </a:xfrm>
          <a:prstGeom prst="roundRect">
            <a:avLst/>
          </a:prstGeom>
          <a:solidFill>
            <a:srgbClr val="F8F3FD"/>
          </a:solidFill>
          <a:ln>
            <a:solidFill>
              <a:srgbClr val="A68CC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5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自注意力</a:t>
            </a:r>
            <a:endParaRPr lang="zh-CN" altLang="en-US" sz="1405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9646050" y="3192750"/>
            <a:ext cx="1894445" cy="334052"/>
          </a:xfrm>
          <a:prstGeom prst="roundRect">
            <a:avLst/>
          </a:prstGeom>
          <a:solidFill>
            <a:srgbClr val="F8F3FD"/>
          </a:solidFill>
          <a:ln>
            <a:solidFill>
              <a:srgbClr val="A68CC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5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跨注意力（可选）</a:t>
            </a:r>
            <a:endParaRPr lang="zh-CN" altLang="en-US" sz="1405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0" name="圆角矩形 99"/>
          <p:cNvSpPr/>
          <p:nvPr/>
        </p:nvSpPr>
        <p:spPr>
          <a:xfrm>
            <a:off x="9646050" y="3606187"/>
            <a:ext cx="1894445" cy="334052"/>
          </a:xfrm>
          <a:prstGeom prst="roundRect">
            <a:avLst/>
          </a:prstGeom>
          <a:solidFill>
            <a:srgbClr val="F8F3FD"/>
          </a:solidFill>
          <a:ln>
            <a:solidFill>
              <a:srgbClr val="A68CC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5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前馈网络</a:t>
            </a:r>
            <a:endParaRPr lang="zh-CN" altLang="en-US" sz="1405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101" name="直接箭头连接符 100"/>
          <p:cNvCxnSpPr/>
          <p:nvPr/>
        </p:nvCxnSpPr>
        <p:spPr>
          <a:xfrm>
            <a:off x="8638186" y="4316848"/>
            <a:ext cx="308649" cy="10415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圆角矩形 101"/>
          <p:cNvSpPr/>
          <p:nvPr/>
        </p:nvSpPr>
        <p:spPr>
          <a:xfrm>
            <a:off x="9239606" y="4626754"/>
            <a:ext cx="213387" cy="213387"/>
          </a:xfrm>
          <a:prstGeom prst="roundRect">
            <a:avLst/>
          </a:prstGeom>
          <a:solidFill>
            <a:srgbClr val="90AC65"/>
          </a:solidFill>
          <a:ln>
            <a:solidFill>
              <a:srgbClr val="6A9D6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圆角矩形 102"/>
          <p:cNvSpPr/>
          <p:nvPr/>
        </p:nvSpPr>
        <p:spPr>
          <a:xfrm>
            <a:off x="9507610" y="4626754"/>
            <a:ext cx="213387" cy="213387"/>
          </a:xfrm>
          <a:prstGeom prst="roundRect">
            <a:avLst/>
          </a:prstGeom>
          <a:solidFill>
            <a:srgbClr val="90AC65"/>
          </a:solidFill>
          <a:ln>
            <a:solidFill>
              <a:srgbClr val="6A9D6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圆角矩形 103"/>
          <p:cNvSpPr/>
          <p:nvPr/>
        </p:nvSpPr>
        <p:spPr>
          <a:xfrm>
            <a:off x="9766723" y="4626754"/>
            <a:ext cx="213387" cy="213387"/>
          </a:xfrm>
          <a:prstGeom prst="roundRect">
            <a:avLst/>
          </a:prstGeom>
          <a:solidFill>
            <a:srgbClr val="90AC65"/>
          </a:solidFill>
          <a:ln>
            <a:solidFill>
              <a:srgbClr val="6A9D6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圆角矩形 107"/>
          <p:cNvSpPr/>
          <p:nvPr/>
        </p:nvSpPr>
        <p:spPr>
          <a:xfrm>
            <a:off x="10038538" y="4626754"/>
            <a:ext cx="213387" cy="213387"/>
          </a:xfrm>
          <a:prstGeom prst="roundRect">
            <a:avLst/>
          </a:prstGeom>
          <a:solidFill>
            <a:srgbClr val="90AC65"/>
          </a:solidFill>
          <a:ln>
            <a:solidFill>
              <a:srgbClr val="6A9D6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文本框 108"/>
          <p:cNvSpPr txBox="1"/>
          <p:nvPr/>
        </p:nvSpPr>
        <p:spPr>
          <a:xfrm>
            <a:off x="10200051" y="4488307"/>
            <a:ext cx="4032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110" name="圆角矩形 109"/>
          <p:cNvSpPr/>
          <p:nvPr/>
        </p:nvSpPr>
        <p:spPr>
          <a:xfrm>
            <a:off x="10545969" y="4626754"/>
            <a:ext cx="213387" cy="213387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10817150" y="4626754"/>
            <a:ext cx="213387" cy="213387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圆角矩形 111"/>
          <p:cNvSpPr/>
          <p:nvPr/>
        </p:nvSpPr>
        <p:spPr>
          <a:xfrm>
            <a:off x="11082616" y="4626754"/>
            <a:ext cx="213387" cy="213387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3" name="圆角矩形 112"/>
          <p:cNvSpPr/>
          <p:nvPr/>
        </p:nvSpPr>
        <p:spPr>
          <a:xfrm>
            <a:off x="12682216" y="4626754"/>
            <a:ext cx="213387" cy="213387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11351926" y="4626754"/>
            <a:ext cx="213387" cy="213387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9" name="右大括号 118"/>
          <p:cNvSpPr/>
          <p:nvPr/>
        </p:nvSpPr>
        <p:spPr>
          <a:xfrm>
            <a:off x="11957759" y="2911415"/>
            <a:ext cx="198145" cy="945000"/>
          </a:xfrm>
          <a:prstGeom prst="rightBrace">
            <a:avLst/>
          </a:prstGeom>
          <a:ln>
            <a:solidFill>
              <a:schemeClr val="tx1"/>
            </a:solidFill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文本框 119"/>
          <p:cNvSpPr txBox="1"/>
          <p:nvPr/>
        </p:nvSpPr>
        <p:spPr>
          <a:xfrm>
            <a:off x="12244387" y="3192756"/>
            <a:ext cx="514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 </a:t>
            </a:r>
            <a:r>
              <a:rPr lang="en-US" altLang="zh-CN" i="1">
                <a:latin typeface="Times New Roman" panose="02020603050405020304" charset="0"/>
                <a:cs typeface="Times New Roman" panose="02020603050405020304" charset="0"/>
              </a:rPr>
              <a:t>L</a:t>
            </a:r>
            <a:endParaRPr lang="en-US" altLang="zh-CN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1" name="圆角矩形 120"/>
          <p:cNvSpPr/>
          <p:nvPr/>
        </p:nvSpPr>
        <p:spPr>
          <a:xfrm>
            <a:off x="11614850" y="4626754"/>
            <a:ext cx="213387" cy="213387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2" name="圆角矩形 121"/>
          <p:cNvSpPr/>
          <p:nvPr/>
        </p:nvSpPr>
        <p:spPr>
          <a:xfrm>
            <a:off x="11876506" y="4626754"/>
            <a:ext cx="213387" cy="213387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3" name="圆角矩形 122"/>
          <p:cNvSpPr/>
          <p:nvPr/>
        </p:nvSpPr>
        <p:spPr>
          <a:xfrm>
            <a:off x="12155973" y="4626754"/>
            <a:ext cx="213387" cy="213387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12326310" y="4488307"/>
            <a:ext cx="4032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125" name="文本框 124"/>
          <p:cNvSpPr txBox="1"/>
          <p:nvPr/>
        </p:nvSpPr>
        <p:spPr>
          <a:xfrm>
            <a:off x="8415792" y="4899847"/>
            <a:ext cx="3094112" cy="524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5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视觉摘要</a:t>
            </a:r>
            <a:r>
              <a:rPr lang="en-US" altLang="zh-CN" sz="1405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token </a:t>
            </a:r>
            <a:r>
              <a:rPr lang="zh-CN" altLang="en-US" sz="1405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序列</a:t>
            </a:r>
            <a:endParaRPr lang="en-US" altLang="zh-CN" sz="1405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algn="ctr"/>
            <a:r>
              <a:rPr lang="en-US" altLang="zh-CN" sz="1405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Z = (z</a:t>
            </a:r>
            <a:r>
              <a:rPr lang="en-US" altLang="zh-CN" sz="1405" b="1" i="1" baseline="-250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1</a:t>
            </a:r>
            <a:r>
              <a:rPr lang="en-US" altLang="zh-CN" sz="1405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, z</a:t>
            </a:r>
            <a:r>
              <a:rPr lang="en-US" altLang="zh-CN" sz="1405" b="1" i="1" baseline="-250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2</a:t>
            </a:r>
            <a:r>
              <a:rPr lang="en-US" altLang="zh-CN" sz="1405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, ..., z</a:t>
            </a:r>
            <a:r>
              <a:rPr lang="en-US" altLang="zh-CN" sz="1405" b="1" i="1" baseline="-250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m</a:t>
            </a:r>
            <a:r>
              <a:rPr lang="en-US" altLang="zh-CN" sz="1405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)</a:t>
            </a:r>
            <a:endParaRPr lang="zh-CN" altLang="en-US" sz="1405" b="1" i="1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0350880" y="4884607"/>
            <a:ext cx="3094112" cy="524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5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文本</a:t>
            </a:r>
            <a:r>
              <a:rPr lang="en-US" altLang="zh-CN" sz="1405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token</a:t>
            </a:r>
            <a:endParaRPr lang="en-US" altLang="zh-CN" sz="1405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405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（</a:t>
            </a:r>
            <a:r>
              <a:rPr lang="zh-CN" altLang="en-US" sz="1405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来自输入提示）</a:t>
            </a:r>
            <a:r>
              <a:rPr lang="en-US" altLang="zh-CN" sz="1405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</a:t>
            </a:r>
            <a:endParaRPr lang="en-US" altLang="zh-CN" sz="1405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338083" y="3463294"/>
            <a:ext cx="148100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华文中宋" panose="02010600040101010101" charset="-122"/>
                <a:ea typeface="华文中宋" panose="02010600040101010101" charset="-122"/>
              </a:rPr>
              <a:t>文本输入</a:t>
            </a:r>
            <a:endParaRPr lang="zh-CN" altLang="en-US" b="1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29" name="圆角矩形 128"/>
          <p:cNvSpPr/>
          <p:nvPr/>
        </p:nvSpPr>
        <p:spPr>
          <a:xfrm>
            <a:off x="237740" y="3362316"/>
            <a:ext cx="1681693" cy="2192933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235835" y="3814493"/>
            <a:ext cx="1685504" cy="63952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“</a:t>
            </a:r>
            <a:r>
              <a:rPr lang="zh-CN" altLang="en-US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这张图片描述的是什么？</a:t>
            </a:r>
            <a:r>
              <a:rPr lang="en-US" altLang="zh-CN" sz="160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  <a:sym typeface="+mn-ea"/>
              </a:rPr>
              <a:t>”</a:t>
            </a:r>
            <a:endParaRPr lang="en-US" altLang="zh-CN" sz="16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237740" y="985848"/>
            <a:ext cx="1681693" cy="2116088"/>
          </a:xfrm>
          <a:prstGeom prst="round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32" name="圆角矩形 131"/>
          <p:cNvSpPr/>
          <p:nvPr/>
        </p:nvSpPr>
        <p:spPr>
          <a:xfrm>
            <a:off x="406891" y="4759493"/>
            <a:ext cx="213387" cy="213387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688232" y="4759493"/>
            <a:ext cx="213387" cy="213387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圆角矩形 135"/>
          <p:cNvSpPr/>
          <p:nvPr/>
        </p:nvSpPr>
        <p:spPr>
          <a:xfrm>
            <a:off x="999421" y="4759493"/>
            <a:ext cx="213387" cy="213387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1548131" y="4759493"/>
            <a:ext cx="213387" cy="213387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1173637" y="4619776"/>
            <a:ext cx="40327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139" name="文本框 138"/>
          <p:cNvSpPr txBox="1"/>
          <p:nvPr/>
        </p:nvSpPr>
        <p:spPr>
          <a:xfrm>
            <a:off x="212655" y="4967165"/>
            <a:ext cx="1731865" cy="524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5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文本</a:t>
            </a:r>
            <a:r>
              <a:rPr lang="en-US" altLang="zh-CN" sz="1405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token</a:t>
            </a:r>
            <a:endParaRPr lang="en-US" altLang="zh-CN" sz="1405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405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（输入提示）</a:t>
            </a:r>
            <a:r>
              <a:rPr lang="en-US" altLang="zh-CN" sz="1405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 </a:t>
            </a:r>
            <a:endParaRPr lang="en-US" altLang="zh-CN" sz="1405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cxnSp>
        <p:nvCxnSpPr>
          <p:cNvPr id="140" name="直接箭头连接符 139"/>
          <p:cNvCxnSpPr/>
          <p:nvPr/>
        </p:nvCxnSpPr>
        <p:spPr>
          <a:xfrm flipH="1">
            <a:off x="998151" y="4433061"/>
            <a:ext cx="1270" cy="24958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>
            <a:off x="1007673" y="5623838"/>
            <a:ext cx="2540" cy="2216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6" name="直接连接符 145"/>
          <p:cNvCxnSpPr/>
          <p:nvPr/>
        </p:nvCxnSpPr>
        <p:spPr>
          <a:xfrm>
            <a:off x="1010214" y="5841036"/>
            <a:ext cx="10889091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 flipH="1" flipV="1">
            <a:off x="11898035" y="5560330"/>
            <a:ext cx="1270" cy="28070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/>
          <p:nvPr/>
        </p:nvCxnSpPr>
        <p:spPr>
          <a:xfrm flipH="1" flipV="1">
            <a:off x="10759375" y="4171411"/>
            <a:ext cx="635" cy="28261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9" name="直接箭头连接符 148"/>
          <p:cNvCxnSpPr/>
          <p:nvPr/>
        </p:nvCxnSpPr>
        <p:spPr>
          <a:xfrm flipV="1">
            <a:off x="12984074" y="3101934"/>
            <a:ext cx="384224" cy="5081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0" name="圆角矩形 149"/>
          <p:cNvSpPr/>
          <p:nvPr/>
        </p:nvSpPr>
        <p:spPr>
          <a:xfrm>
            <a:off x="13598832" y="2022297"/>
            <a:ext cx="407722" cy="398831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1200" b="1" i="1" baseline="-25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1</a:t>
            </a:r>
            <a:endParaRPr lang="en-US" altLang="zh-CN" sz="1200" b="1" i="1" baseline="-25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1" name="圆角矩形 150"/>
          <p:cNvSpPr/>
          <p:nvPr/>
        </p:nvSpPr>
        <p:spPr>
          <a:xfrm>
            <a:off x="13598832" y="2512579"/>
            <a:ext cx="407722" cy="398831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1200" b="1" i="1" baseline="-25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2</a:t>
            </a:r>
            <a:endParaRPr lang="en-US" altLang="zh-CN" sz="1200" b="1" i="1" baseline="-25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2" name="圆角矩形 151"/>
          <p:cNvSpPr/>
          <p:nvPr/>
        </p:nvSpPr>
        <p:spPr>
          <a:xfrm>
            <a:off x="13598832" y="2998415"/>
            <a:ext cx="407722" cy="398831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1200" b="1" i="1" baseline="-25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endParaRPr lang="en-US" altLang="zh-CN" sz="1200" b="1" i="1" baseline="-25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13644181" y="3290554"/>
            <a:ext cx="459740" cy="5410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sp>
        <p:nvSpPr>
          <p:cNvPr id="155" name="圆角矩形 154"/>
          <p:cNvSpPr/>
          <p:nvPr/>
        </p:nvSpPr>
        <p:spPr>
          <a:xfrm>
            <a:off x="13598832" y="3700814"/>
            <a:ext cx="407722" cy="398831"/>
          </a:xfrm>
          <a:prstGeom prst="roundRect">
            <a:avLst/>
          </a:prstGeom>
          <a:solidFill>
            <a:srgbClr val="D2C1F0"/>
          </a:solidFill>
          <a:ln>
            <a:solidFill>
              <a:srgbClr val="8A6CB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1200" b="1" i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</a:t>
            </a:r>
            <a:r>
              <a:rPr lang="en-US" altLang="zh-CN" sz="1200" b="1" i="1" baseline="-25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</a:t>
            </a:r>
            <a:endParaRPr lang="en-US" altLang="zh-CN" sz="1200" b="1" i="1" baseline="-25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13200213" y="1570754"/>
            <a:ext cx="104216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输出文本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13281493" y="4300957"/>
            <a:ext cx="1042167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逐步生成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  <a:p>
            <a:pPr algn="ctr"/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（自回归）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WPS 演示</Application>
  <PresentationFormat>宽屏</PresentationFormat>
  <Paragraphs>89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华文中宋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陈唯聪</dc:creator>
  <cp:lastModifiedBy>陈唯聪</cp:lastModifiedBy>
  <cp:revision>60</cp:revision>
  <dcterms:created xsi:type="dcterms:W3CDTF">2023-08-09T12:44:00Z</dcterms:created>
  <dcterms:modified xsi:type="dcterms:W3CDTF">2026-06-04T09:34:23Z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208721DE6B184283BF2183971EC8AFF2_12</vt:lpwstr>
  </property>
</Properties>
</file>