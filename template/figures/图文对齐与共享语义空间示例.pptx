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C1C"/>
    <a:srgbClr val="FEFDFD"/>
    <a:srgbClr val="80A1CA"/>
    <a:srgbClr val="DDE7F4"/>
    <a:srgbClr val="EEF3FA"/>
    <a:srgbClr val="EEF3F9"/>
    <a:srgbClr val="7696C8"/>
    <a:srgbClr val="E7EEF9"/>
    <a:srgbClr val="E5EDFA"/>
    <a:srgbClr val="E6E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8"/>
        <p:guide pos="3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5" name="直接连接符 14"/>
          <p:cNvCxnSpPr/>
          <p:nvPr/>
        </p:nvCxnSpPr>
        <p:spPr>
          <a:xfrm flipH="1">
            <a:off x="3153410" y="361950"/>
            <a:ext cx="5080" cy="5713730"/>
          </a:xfrm>
          <a:prstGeom prst="line">
            <a:avLst/>
          </a:prstGeom>
          <a:ln w="12700" cmpd="sng">
            <a:solidFill>
              <a:srgbClr val="BCBBBC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234950" y="351155"/>
            <a:ext cx="2644140" cy="392430"/>
          </a:xfrm>
          <a:prstGeom prst="roundRect">
            <a:avLst/>
          </a:prstGeom>
          <a:solidFill>
            <a:srgbClr val="E8F0DE"/>
          </a:solidFill>
          <a:ln>
            <a:solidFill>
              <a:srgbClr val="BCCD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输入示例</a:t>
            </a:r>
            <a:endParaRPr lang="zh-CN" altLang="en-US" b="1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3364230" y="351155"/>
            <a:ext cx="3589020" cy="392430"/>
          </a:xfrm>
          <a:prstGeom prst="roundRect">
            <a:avLst/>
          </a:prstGeom>
          <a:solidFill>
            <a:srgbClr val="E5EDFA"/>
          </a:solidFill>
          <a:ln>
            <a:solidFill>
              <a:srgbClr val="8BA5C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编码与对齐</a:t>
            </a:r>
            <a:endParaRPr lang="zh-CN" altLang="en-US" b="1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371715" y="351155"/>
            <a:ext cx="4472305" cy="392430"/>
          </a:xfrm>
          <a:prstGeom prst="roundRect">
            <a:avLst/>
          </a:prstGeom>
          <a:solidFill>
            <a:srgbClr val="E7EEF9"/>
          </a:solidFill>
          <a:ln>
            <a:solidFill>
              <a:srgbClr val="7696C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共享语义空间</a:t>
            </a:r>
            <a:endParaRPr lang="zh-CN" altLang="en-US" b="1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pic>
        <p:nvPicPr>
          <p:cNvPr id="7" name="图片 6" descr="cat"/>
          <p:cNvPicPr>
            <a:picLocks noChangeAspect="1"/>
          </p:cNvPicPr>
          <p:nvPr/>
        </p:nvPicPr>
        <p:blipFill>
          <a:blip r:embed="rId1"/>
          <a:srcRect t="5653" b="7725"/>
          <a:stretch>
            <a:fillRect/>
          </a:stretch>
        </p:blipFill>
        <p:spPr>
          <a:xfrm>
            <a:off x="591820" y="847090"/>
            <a:ext cx="1991995" cy="1994535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375285" y="3630930"/>
            <a:ext cx="2425065" cy="474345"/>
          </a:xfrm>
          <a:prstGeom prst="roundRect">
            <a:avLst/>
          </a:prstGeom>
          <a:solidFill>
            <a:srgbClr val="E8F0DE"/>
          </a:solidFill>
          <a:ln>
            <a:solidFill>
              <a:srgbClr val="BCCD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一只猫坐在地上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75285" y="4204335"/>
            <a:ext cx="2425065" cy="474345"/>
          </a:xfrm>
          <a:prstGeom prst="roundRect">
            <a:avLst/>
          </a:prstGeom>
          <a:solidFill>
            <a:srgbClr val="E8F0DE"/>
          </a:solidFill>
          <a:ln>
            <a:solidFill>
              <a:srgbClr val="BCCD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黄棕色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宠物猫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75285" y="4796790"/>
            <a:ext cx="2425065" cy="474345"/>
          </a:xfrm>
          <a:prstGeom prst="roundRect">
            <a:avLst/>
          </a:prstGeom>
          <a:solidFill>
            <a:srgbClr val="E8F0DE"/>
          </a:solidFill>
          <a:ln>
            <a:solidFill>
              <a:srgbClr val="BCCD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一辆汽车停在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路边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1503" y="2841625"/>
            <a:ext cx="193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</a:rPr>
              <a:t>图像 </a:t>
            </a:r>
            <a:r>
              <a:rPr lang="zh-CN" altLang="en-US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I</a:t>
            </a:r>
            <a:endParaRPr lang="en-US" altLang="zh-CN" b="1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983" y="5340985"/>
            <a:ext cx="19310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华文中宋" panose="02010600040101010101" charset="-122"/>
                <a:ea typeface="华文中宋" panose="02010600040101010101" charset="-122"/>
              </a:rPr>
              <a:t>文本</a:t>
            </a:r>
            <a:r>
              <a:rPr lang="en-US" altLang="zh-CN" b="1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S</a:t>
            </a:r>
            <a:endParaRPr lang="en-US" altLang="zh-CN" b="1" i="1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3610293" y="1348105"/>
            <a:ext cx="1821815" cy="886460"/>
          </a:xfrm>
          <a:prstGeom prst="roundRect">
            <a:avLst/>
          </a:prstGeom>
          <a:solidFill>
            <a:srgbClr val="CCDEF9"/>
          </a:solidFill>
          <a:ln>
            <a:solidFill>
              <a:srgbClr val="1842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视觉编码器</a:t>
            </a:r>
            <a:endParaRPr lang="zh-CN" altLang="en-US" sz="16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1600" i="1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f</a:t>
            </a:r>
            <a:r>
              <a:rPr lang="en-US" altLang="zh-CN" sz="1600" i="1" baseline="-250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</a:t>
            </a:r>
            <a:endParaRPr lang="en-US" altLang="zh-CN" sz="1600" i="1" baseline="-250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2896235" y="1787525"/>
            <a:ext cx="625475" cy="508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555683" y="2299335"/>
            <a:ext cx="1931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0C42AF"/>
                </a:solidFill>
                <a:latin typeface="华文中宋" panose="02010600040101010101" charset="-122"/>
                <a:ea typeface="华文中宋" panose="02010600040101010101" charset="-122"/>
              </a:rPr>
              <a:t>正样本相似度高</a:t>
            </a:r>
            <a:endParaRPr lang="zh-CN" altLang="en-US" sz="1400" b="1">
              <a:solidFill>
                <a:srgbClr val="0C42AF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/>
            <a:r>
              <a:rPr lang="zh-CN" altLang="en-US" sz="1400" b="1">
                <a:solidFill>
                  <a:srgbClr val="0C42AF"/>
                </a:solidFill>
                <a:latin typeface="华文中宋" panose="02010600040101010101" charset="-122"/>
                <a:ea typeface="华文中宋" panose="02010600040101010101" charset="-122"/>
              </a:rPr>
              <a:t>负样本相似度低</a:t>
            </a:r>
            <a:endParaRPr lang="zh-CN" altLang="en-US" sz="1400" b="1">
              <a:solidFill>
                <a:srgbClr val="0C42AF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3611563" y="3080385"/>
            <a:ext cx="1819275" cy="611505"/>
          </a:xfrm>
          <a:prstGeom prst="roundRect">
            <a:avLst/>
          </a:prstGeom>
          <a:noFill/>
          <a:ln w="12700" cmpd="sng">
            <a:solidFill>
              <a:srgbClr val="212021"/>
            </a:solidFill>
            <a:prstDash val="lg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4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对比学习</a:t>
            </a: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/</a:t>
            </a:r>
            <a:b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</a:br>
            <a:r>
              <a:rPr lang="en-US" altLang="zh-CN" sz="14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Contrastive Learning</a:t>
            </a:r>
            <a:endParaRPr lang="en-US" altLang="zh-CN" sz="14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cxnSp>
        <p:nvCxnSpPr>
          <p:cNvPr id="18" name="直接箭头连接符 17"/>
          <p:cNvCxnSpPr>
            <a:stCxn id="17" idx="0"/>
          </p:cNvCxnSpPr>
          <p:nvPr/>
        </p:nvCxnSpPr>
        <p:spPr>
          <a:xfrm flipH="1" flipV="1">
            <a:off x="4516755" y="2792095"/>
            <a:ext cx="5080" cy="28829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4485005" y="3694430"/>
            <a:ext cx="5080" cy="25400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3614420" y="3950970"/>
            <a:ext cx="1813560" cy="886460"/>
          </a:xfrm>
          <a:prstGeom prst="roundRect">
            <a:avLst/>
          </a:prstGeom>
          <a:solidFill>
            <a:srgbClr val="FDE2C9"/>
          </a:solidFill>
          <a:ln>
            <a:solidFill>
              <a:srgbClr val="DD5B0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文本编码器</a:t>
            </a:r>
            <a:endParaRPr lang="zh-CN" altLang="en-US" sz="1600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sz="1600" i="1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f</a:t>
            </a:r>
            <a:r>
              <a:rPr lang="en-US" altLang="zh-CN" sz="1600" i="1" baseline="-25000">
                <a:solidFill>
                  <a:schemeClr val="tx1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t</a:t>
            </a:r>
            <a:endParaRPr lang="en-US" altLang="zh-CN" sz="1600" i="1" baseline="-250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555683" y="4936490"/>
            <a:ext cx="19310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DE6318"/>
                </a:solidFill>
                <a:latin typeface="华文中宋" panose="02010600040101010101" charset="-122"/>
                <a:ea typeface="华文中宋" panose="02010600040101010101" charset="-122"/>
              </a:rPr>
              <a:t>正样本相似度高</a:t>
            </a:r>
            <a:endParaRPr lang="zh-CN" altLang="en-US" sz="1400" b="1">
              <a:solidFill>
                <a:srgbClr val="DE6318"/>
              </a:solidFill>
              <a:latin typeface="华文中宋" panose="02010600040101010101" charset="-122"/>
              <a:ea typeface="华文中宋" panose="02010600040101010101" charset="-122"/>
            </a:endParaRPr>
          </a:p>
          <a:p>
            <a:pPr algn="ctr"/>
            <a:r>
              <a:rPr lang="zh-CN" altLang="en-US" sz="1400" b="1">
                <a:solidFill>
                  <a:srgbClr val="DE6318"/>
                </a:solidFill>
                <a:latin typeface="华文中宋" panose="02010600040101010101" charset="-122"/>
                <a:ea typeface="华文中宋" panose="02010600040101010101" charset="-122"/>
              </a:rPr>
              <a:t>负样本相似度低</a:t>
            </a:r>
            <a:endParaRPr lang="zh-CN" altLang="en-US" sz="1400" b="1">
              <a:solidFill>
                <a:srgbClr val="DE6318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2974975" y="4537710"/>
            <a:ext cx="600710" cy="127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5521325" y="1778635"/>
            <a:ext cx="618490" cy="381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6232525" y="1289685"/>
            <a:ext cx="411480" cy="1127760"/>
          </a:xfrm>
          <a:prstGeom prst="roundRect">
            <a:avLst/>
          </a:prstGeom>
          <a:noFill/>
          <a:ln>
            <a:solidFill>
              <a:srgbClr val="38373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5748655" y="918845"/>
            <a:ext cx="1379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华文中宋" panose="02010600040101010101" charset="-122"/>
                <a:ea typeface="华文中宋" panose="02010600040101010101" charset="-122"/>
              </a:rPr>
              <a:t>图像向量</a:t>
            </a:r>
            <a:r>
              <a:rPr lang="en-US" altLang="zh-CN" sz="1400" b="1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sz="1400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</a:t>
            </a:r>
            <a:r>
              <a:rPr lang="en-US" altLang="zh-CN" sz="1400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I</a:t>
            </a:r>
            <a:endParaRPr lang="en-US" altLang="zh-CN" sz="1400" b="1" i="1" baseline="-250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6348095" y="1400810"/>
            <a:ext cx="190500" cy="190500"/>
          </a:xfrm>
          <a:prstGeom prst="ellipse">
            <a:avLst/>
          </a:prstGeom>
          <a:ln>
            <a:solidFill>
              <a:srgbClr val="01010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6348095" y="1644650"/>
            <a:ext cx="190500" cy="190500"/>
          </a:xfrm>
          <a:prstGeom prst="ellipse">
            <a:avLst/>
          </a:prstGeom>
          <a:ln>
            <a:solidFill>
              <a:srgbClr val="01010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椭圆 28"/>
          <p:cNvSpPr/>
          <p:nvPr/>
        </p:nvSpPr>
        <p:spPr>
          <a:xfrm>
            <a:off x="6348095" y="2096770"/>
            <a:ext cx="190500" cy="190500"/>
          </a:xfrm>
          <a:prstGeom prst="ellipse">
            <a:avLst/>
          </a:prstGeom>
          <a:ln>
            <a:solidFill>
              <a:srgbClr val="01010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232525" y="1845945"/>
            <a:ext cx="459740" cy="301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/>
              <a:t>···</a:t>
            </a:r>
            <a:endParaRPr lang="en-US" altLang="zh-CN"/>
          </a:p>
        </p:txBody>
      </p:sp>
      <p:sp>
        <p:nvSpPr>
          <p:cNvPr id="32" name="圆角矩形 31"/>
          <p:cNvSpPr/>
          <p:nvPr/>
        </p:nvSpPr>
        <p:spPr>
          <a:xfrm>
            <a:off x="6256655" y="3938905"/>
            <a:ext cx="411480" cy="1127760"/>
          </a:xfrm>
          <a:prstGeom prst="roundRect">
            <a:avLst/>
          </a:prstGeom>
          <a:noFill/>
          <a:ln>
            <a:solidFill>
              <a:srgbClr val="38373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772785" y="3568065"/>
            <a:ext cx="1379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latin typeface="华文中宋" panose="02010600040101010101" charset="-122"/>
                <a:ea typeface="华文中宋" panose="02010600040101010101" charset="-122"/>
              </a:rPr>
              <a:t>文本向量</a:t>
            </a:r>
            <a:r>
              <a:rPr lang="en-US" altLang="zh-CN" sz="1400" b="1">
                <a:latin typeface="华文中宋" panose="02010600040101010101" charset="-122"/>
                <a:ea typeface="华文中宋" panose="02010600040101010101" charset="-122"/>
              </a:rPr>
              <a:t> </a:t>
            </a:r>
            <a:r>
              <a:rPr lang="en-US" altLang="zh-CN" sz="1400" b="1" i="1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v</a:t>
            </a:r>
            <a:r>
              <a:rPr lang="en-US" altLang="zh-CN" sz="1400" b="1" i="1" baseline="-25000"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</a:rPr>
              <a:t>Si</a:t>
            </a:r>
            <a:endParaRPr lang="en-US" altLang="zh-CN" sz="1400" b="1" i="1" baseline="-25000"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6372225" y="4050030"/>
            <a:ext cx="190500" cy="190500"/>
          </a:xfrm>
          <a:prstGeom prst="ellipse">
            <a:avLst/>
          </a:prstGeom>
          <a:solidFill>
            <a:srgbClr val="EB751E"/>
          </a:solidFill>
          <a:ln>
            <a:solidFill>
              <a:srgbClr val="AB653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椭圆 34"/>
          <p:cNvSpPr/>
          <p:nvPr/>
        </p:nvSpPr>
        <p:spPr>
          <a:xfrm>
            <a:off x="6372225" y="4293870"/>
            <a:ext cx="190500" cy="190500"/>
          </a:xfrm>
          <a:prstGeom prst="ellipse">
            <a:avLst/>
          </a:prstGeom>
          <a:solidFill>
            <a:srgbClr val="EB7B23"/>
          </a:solidFill>
          <a:ln>
            <a:solidFill>
              <a:srgbClr val="B85A1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椭圆 35"/>
          <p:cNvSpPr/>
          <p:nvPr/>
        </p:nvSpPr>
        <p:spPr>
          <a:xfrm>
            <a:off x="6372225" y="4745990"/>
            <a:ext cx="190500" cy="190500"/>
          </a:xfrm>
          <a:prstGeom prst="ellipse">
            <a:avLst/>
          </a:prstGeom>
          <a:solidFill>
            <a:srgbClr val="EB7A22"/>
          </a:solidFill>
          <a:ln>
            <a:solidFill>
              <a:srgbClr val="B96A3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6256655" y="4495165"/>
            <a:ext cx="459740" cy="301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en-US" altLang="zh-CN"/>
              <a:t>···</a:t>
            </a:r>
            <a:endParaRPr lang="en-US" altLang="zh-CN"/>
          </a:p>
        </p:txBody>
      </p:sp>
      <p:cxnSp>
        <p:nvCxnSpPr>
          <p:cNvPr id="38" name="直接箭头连接符 37"/>
          <p:cNvCxnSpPr/>
          <p:nvPr/>
        </p:nvCxnSpPr>
        <p:spPr>
          <a:xfrm flipV="1">
            <a:off x="5521325" y="4387215"/>
            <a:ext cx="618490" cy="381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H="1">
            <a:off x="7158990" y="351155"/>
            <a:ext cx="5080" cy="5713730"/>
          </a:xfrm>
          <a:prstGeom prst="line">
            <a:avLst/>
          </a:prstGeom>
          <a:ln w="12700" cmpd="sng">
            <a:solidFill>
              <a:srgbClr val="BCBBBC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7371715" y="986155"/>
            <a:ext cx="4478020" cy="4028440"/>
          </a:xfrm>
          <a:prstGeom prst="roundRect">
            <a:avLst/>
          </a:prstGeom>
          <a:pattFill prst="lgGrid">
            <a:fgClr>
              <a:srgbClr val="DDE7F4"/>
            </a:fgClr>
            <a:bgClr>
              <a:srgbClr val="EEF3FA"/>
            </a:bgClr>
          </a:pattFill>
          <a:ln>
            <a:solidFill>
              <a:srgbClr val="80A1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en-US" altLang="zh-CN" sz="1600" i="1" baseline="-25000">
              <a:solidFill>
                <a:schemeClr val="tx1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8643938" y="1113155"/>
            <a:ext cx="193103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华文中宋" panose="02010600040101010101" charset="-122"/>
                <a:ea typeface="华文中宋" panose="02010600040101010101" charset="-122"/>
              </a:rPr>
              <a:t>共享语义空间</a:t>
            </a:r>
            <a:endParaRPr lang="zh-CN" altLang="en-US" sz="1600" b="1"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>
            <a:off x="6736715" y="1778635"/>
            <a:ext cx="554355" cy="675005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6741795" y="3771900"/>
            <a:ext cx="518795" cy="61976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7513955" y="3004185"/>
            <a:ext cx="4206240" cy="0"/>
          </a:xfrm>
          <a:prstGeom prst="straightConnector1">
            <a:avLst/>
          </a:prstGeom>
          <a:ln>
            <a:solidFill>
              <a:srgbClr val="8D8E8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40" idx="2"/>
          </p:cNvCxnSpPr>
          <p:nvPr/>
        </p:nvCxnSpPr>
        <p:spPr>
          <a:xfrm flipH="1" flipV="1">
            <a:off x="9594215" y="1495425"/>
            <a:ext cx="16510" cy="3519170"/>
          </a:xfrm>
          <a:prstGeom prst="straightConnector1">
            <a:avLst/>
          </a:prstGeom>
          <a:ln>
            <a:solidFill>
              <a:srgbClr val="8D8E8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椭圆 49"/>
          <p:cNvSpPr/>
          <p:nvPr/>
        </p:nvSpPr>
        <p:spPr>
          <a:xfrm rot="20220000">
            <a:off x="8591550" y="1972945"/>
            <a:ext cx="1519555" cy="117157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8820150" y="2420620"/>
            <a:ext cx="190500" cy="190500"/>
          </a:xfrm>
          <a:prstGeom prst="ellipse">
            <a:avLst/>
          </a:prstGeom>
          <a:ln>
            <a:solidFill>
              <a:srgbClr val="01010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9296400" y="2230120"/>
            <a:ext cx="190500" cy="190500"/>
          </a:xfrm>
          <a:prstGeom prst="ellipse">
            <a:avLst/>
          </a:prstGeom>
          <a:solidFill>
            <a:srgbClr val="EB751E"/>
          </a:solidFill>
          <a:ln>
            <a:solidFill>
              <a:srgbClr val="AB653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9177655" y="2611120"/>
            <a:ext cx="190500" cy="190500"/>
          </a:xfrm>
          <a:prstGeom prst="ellipse">
            <a:avLst/>
          </a:prstGeom>
          <a:solidFill>
            <a:srgbClr val="EB751E"/>
          </a:solidFill>
          <a:ln>
            <a:solidFill>
              <a:srgbClr val="AB653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0843895" y="3980180"/>
            <a:ext cx="190500" cy="190500"/>
          </a:xfrm>
          <a:prstGeom prst="ellipse">
            <a:avLst/>
          </a:prstGeom>
          <a:solidFill>
            <a:srgbClr val="E54848"/>
          </a:solidFill>
          <a:ln>
            <a:solidFill>
              <a:srgbClr val="E5464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7599680" y="2230120"/>
            <a:ext cx="1379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4874CB"/>
                </a:solidFill>
                <a:latin typeface="华文中宋" panose="02010600040101010101" charset="-122"/>
                <a:ea typeface="华文中宋" panose="02010600040101010101" charset="-122"/>
              </a:rPr>
              <a:t>猫图像向量</a:t>
            </a:r>
            <a:endParaRPr lang="zh-CN" altLang="en-US" sz="1400" b="1" i="1" baseline="-25000">
              <a:solidFill>
                <a:srgbClr val="4874CB"/>
              </a:solidFill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9251950" y="2113915"/>
            <a:ext cx="18865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EB751E"/>
                </a:solidFill>
                <a:latin typeface="华文中宋" panose="02010600040101010101" charset="-122"/>
                <a:ea typeface="华文中宋" panose="02010600040101010101" charset="-122"/>
              </a:rPr>
              <a:t>“</a:t>
            </a:r>
            <a:r>
              <a:rPr lang="zh-CN" altLang="en-US" sz="1400">
                <a:solidFill>
                  <a:srgbClr val="EB751E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一只猫坐在地上</a:t>
            </a:r>
            <a:r>
              <a:rPr lang="en-US" altLang="zh-CN" sz="1400" b="1">
                <a:solidFill>
                  <a:srgbClr val="EB751E"/>
                </a:solidFill>
                <a:latin typeface="华文中宋" panose="02010600040101010101" charset="-122"/>
                <a:ea typeface="华文中宋" panose="02010600040101010101" charset="-122"/>
              </a:rPr>
              <a:t>”</a:t>
            </a:r>
            <a:endParaRPr lang="en-US" altLang="zh-CN" sz="1400" b="1" i="1" baseline="-25000">
              <a:solidFill>
                <a:srgbClr val="EB751E"/>
              </a:solidFill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9010650" y="2679700"/>
            <a:ext cx="2045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solidFill>
                  <a:srgbClr val="EB751E"/>
                </a:solidFill>
                <a:latin typeface="华文中宋" panose="02010600040101010101" charset="-122"/>
                <a:ea typeface="华文中宋" panose="02010600040101010101" charset="-122"/>
              </a:rPr>
              <a:t>“</a:t>
            </a:r>
            <a:r>
              <a:rPr lang="zh-CN" altLang="en-US" sz="1400">
                <a:solidFill>
                  <a:srgbClr val="EB751E"/>
                </a:solidFill>
                <a:latin typeface="华文中宋" panose="02010600040101010101" charset="-122"/>
                <a:ea typeface="华文中宋" panose="02010600040101010101" charset="-122"/>
                <a:sym typeface="+mn-ea"/>
              </a:rPr>
              <a:t>黄棕色宠物猫</a:t>
            </a:r>
            <a:r>
              <a:rPr lang="en-US" altLang="zh-CN" sz="1400" b="1">
                <a:solidFill>
                  <a:srgbClr val="EB751E"/>
                </a:solidFill>
                <a:latin typeface="华文中宋" panose="02010600040101010101" charset="-122"/>
                <a:ea typeface="华文中宋" panose="02010600040101010101" charset="-122"/>
              </a:rPr>
              <a:t>”</a:t>
            </a:r>
            <a:endParaRPr lang="en-US" altLang="zh-CN" sz="1400" b="1" i="1" baseline="-25000">
              <a:solidFill>
                <a:srgbClr val="EB751E"/>
              </a:solidFill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9800590" y="3630930"/>
            <a:ext cx="2045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1400" b="1">
                <a:solidFill>
                  <a:srgbClr val="E54848"/>
                </a:solidFill>
                <a:latin typeface="华文中宋" panose="02010600040101010101" charset="-122"/>
                <a:ea typeface="华文中宋" panose="02010600040101010101" charset="-122"/>
              </a:rPr>
              <a:t>“</a:t>
            </a:r>
            <a:r>
              <a:rPr lang="zh-CN" altLang="en-US" sz="1400" b="1">
                <a:solidFill>
                  <a:srgbClr val="E54848"/>
                </a:solidFill>
                <a:latin typeface="华文中宋" panose="02010600040101010101" charset="-122"/>
                <a:ea typeface="华文中宋" panose="02010600040101010101" charset="-122"/>
              </a:rPr>
              <a:t>一辆汽车停在路边</a:t>
            </a:r>
            <a:r>
              <a:rPr lang="en-US" sz="1400" b="1">
                <a:solidFill>
                  <a:srgbClr val="E54848"/>
                </a:solidFill>
                <a:latin typeface="华文中宋" panose="02010600040101010101" charset="-122"/>
                <a:ea typeface="华文中宋" panose="02010600040101010101" charset="-122"/>
              </a:rPr>
              <a:t>”</a:t>
            </a:r>
            <a:endParaRPr lang="en-US" sz="1400" b="1" i="1" baseline="-25000">
              <a:solidFill>
                <a:srgbClr val="E54848"/>
              </a:solidFill>
              <a:latin typeface="华文中宋" panose="02010600040101010101" charset="-122"/>
              <a:ea typeface="华文中宋" panose="02010600040101010101" charset="-122"/>
              <a:cs typeface="Times New Roman" panose="0202060305040502030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480935" y="3394710"/>
            <a:ext cx="13792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4874CB"/>
                </a:solidFill>
                <a:latin typeface="华文中宋" panose="02010600040101010101" charset="-122"/>
                <a:ea typeface="华文中宋" panose="02010600040101010101" charset="-122"/>
              </a:rPr>
              <a:t>匹配图文</a:t>
            </a:r>
            <a:r>
              <a:rPr lang="zh-CN" altLang="en-US" sz="1400" b="1">
                <a:solidFill>
                  <a:srgbClr val="4874CB"/>
                </a:solidFill>
                <a:latin typeface="华文中宋" panose="02010600040101010101" charset="-122"/>
                <a:ea typeface="华文中宋" panose="02010600040101010101" charset="-122"/>
              </a:rPr>
              <a:t>靠近</a:t>
            </a:r>
            <a:endParaRPr lang="zh-CN" altLang="en-US" sz="1400" b="1">
              <a:solidFill>
                <a:srgbClr val="4874CB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8820150" y="4371975"/>
            <a:ext cx="2045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 b="1">
                <a:solidFill>
                  <a:srgbClr val="E54848"/>
                </a:solidFill>
                <a:latin typeface="华文中宋" panose="02010600040101010101" charset="-122"/>
                <a:ea typeface="华文中宋" panose="02010600040101010101" charset="-122"/>
              </a:rPr>
              <a:t>不匹配图文</a:t>
            </a:r>
            <a:r>
              <a:rPr lang="zh-CN" altLang="en-US" sz="1400" b="1">
                <a:solidFill>
                  <a:srgbClr val="E54848"/>
                </a:solidFill>
                <a:latin typeface="华文中宋" panose="02010600040101010101" charset="-122"/>
                <a:ea typeface="华文中宋" panose="02010600040101010101" charset="-122"/>
              </a:rPr>
              <a:t>较远</a:t>
            </a:r>
            <a:endParaRPr lang="zh-CN" altLang="en-US" sz="1400" b="1">
              <a:solidFill>
                <a:srgbClr val="E54848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cxnSp>
        <p:nvCxnSpPr>
          <p:cNvPr id="58" name="直接箭头连接符 57"/>
          <p:cNvCxnSpPr/>
          <p:nvPr/>
        </p:nvCxnSpPr>
        <p:spPr>
          <a:xfrm flipV="1">
            <a:off x="8748395" y="3197860"/>
            <a:ext cx="281940" cy="28702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V="1">
            <a:off x="10561955" y="4170680"/>
            <a:ext cx="281940" cy="287020"/>
          </a:xfrm>
          <a:prstGeom prst="straightConnector1">
            <a:avLst/>
          </a:prstGeom>
          <a:ln w="12700" cmpd="sng">
            <a:solidFill>
              <a:srgbClr val="E54848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9608820" y="5069840"/>
            <a:ext cx="6350" cy="336550"/>
          </a:xfrm>
          <a:prstGeom prst="straightConnector1">
            <a:avLst/>
          </a:prstGeom>
          <a:ln w="25400">
            <a:solidFill>
              <a:srgbClr val="01010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1" name="圆角矩形 60"/>
          <p:cNvSpPr/>
          <p:nvPr/>
        </p:nvSpPr>
        <p:spPr>
          <a:xfrm>
            <a:off x="8295005" y="5458460"/>
            <a:ext cx="2644140" cy="524510"/>
          </a:xfrm>
          <a:prstGeom prst="roundRect">
            <a:avLst/>
          </a:prstGeom>
          <a:solidFill>
            <a:srgbClr val="E8F0DE"/>
          </a:solidFill>
          <a:ln>
            <a:solidFill>
              <a:srgbClr val="BCCDA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下游</a:t>
            </a:r>
            <a:r>
              <a:rPr lang="zh-CN" altLang="en-US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rPr>
              <a:t>应用</a:t>
            </a:r>
            <a:endParaRPr lang="zh-CN" altLang="en-US">
              <a:solidFill>
                <a:schemeClr val="tx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2" name="圆角矩形 61"/>
          <p:cNvSpPr/>
          <p:nvPr/>
        </p:nvSpPr>
        <p:spPr>
          <a:xfrm>
            <a:off x="267335" y="847090"/>
            <a:ext cx="2628900" cy="2371725"/>
          </a:xfrm>
          <a:prstGeom prst="roundRect">
            <a:avLst/>
          </a:prstGeom>
          <a:noFill/>
          <a:ln w="12700" cmpd="sng">
            <a:solidFill>
              <a:srgbClr val="1C1C1C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/>
        </p:nvSpPr>
        <p:spPr>
          <a:xfrm>
            <a:off x="267335" y="3394710"/>
            <a:ext cx="2628900" cy="2371725"/>
          </a:xfrm>
          <a:prstGeom prst="roundRect">
            <a:avLst/>
          </a:prstGeom>
          <a:noFill/>
          <a:ln w="12700" cmpd="sng">
            <a:solidFill>
              <a:srgbClr val="1C1C1C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188</Words>
  <Application>WPS 演示</Application>
  <PresentationFormat>宽屏</PresentationFormat>
  <Paragraphs>54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黑体</vt:lpstr>
      <vt:lpstr>方正正黑简体</vt:lpstr>
      <vt:lpstr>华文中宋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陈唯聪</dc:creator>
  <cp:lastModifiedBy>陈唯聪</cp:lastModifiedBy>
  <cp:revision>13</cp:revision>
  <dcterms:created xsi:type="dcterms:W3CDTF">2023-08-09T12:44:00Z</dcterms:created>
  <dcterms:modified xsi:type="dcterms:W3CDTF">2026-06-04T06:29:25Z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F7F85865811C4787948127AE1F28F464_12</vt:lpwstr>
  </property>
</Properties>
</file>